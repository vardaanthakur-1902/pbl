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65" r:id="rId5"/>
    <p:sldId id="259" r:id="rId6"/>
    <p:sldId id="267" r:id="rId7"/>
    <p:sldId id="260" r:id="rId8"/>
    <p:sldId id="262" r:id="rId9"/>
    <p:sldId id="261" r:id="rId10"/>
    <p:sldId id="271" r:id="rId11"/>
    <p:sldId id="268" r:id="rId12"/>
    <p:sldId id="269" r:id="rId13"/>
    <p:sldId id="270" r:id="rId14"/>
    <p:sldId id="272" r:id="rId15"/>
    <p:sldId id="273" r:id="rId16"/>
    <p:sldId id="274" r:id="rId17"/>
    <p:sldId id="263" r:id="rId18"/>
    <p:sldId id="26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7720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713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566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2508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1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750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5100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547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17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1149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6599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752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857" y="2860161"/>
            <a:ext cx="11212285" cy="162678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PHISHING WEBSITE DETECTION USING NLP AND 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9715" y="4890977"/>
            <a:ext cx="3505200" cy="1390080"/>
          </a:xfrm>
        </p:spPr>
        <p:txBody>
          <a:bodyPr>
            <a:normAutofit/>
          </a:bodyPr>
          <a:lstStyle/>
          <a:p>
            <a:r>
              <a:rPr lang="en-IN" b="1" dirty="0"/>
              <a:t>Submitted By:</a:t>
            </a:r>
            <a:br>
              <a:rPr lang="en-IN" b="1" dirty="0"/>
            </a:br>
            <a:r>
              <a:rPr lang="en-IN" b="1" dirty="0"/>
              <a:t>VARDAAN THAKUR</a:t>
            </a:r>
          </a:p>
          <a:p>
            <a:r>
              <a:rPr lang="en-IN" b="1" dirty="0"/>
              <a:t>2427030052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Supervised By:</a:t>
            </a:r>
            <a:br>
              <a:rPr lang="en-IN" b="1" dirty="0"/>
            </a:br>
            <a:r>
              <a:rPr lang="en-IN" b="1" dirty="0"/>
              <a:t>Dr. Usha Jain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Methodology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References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D85437-89CB-104F-22CB-DC5F383D49BA}"/>
              </a:ext>
            </a:extLst>
          </p:cNvPr>
          <p:cNvSpPr txBox="1"/>
          <p:nvPr/>
        </p:nvSpPr>
        <p:spPr>
          <a:xfrm>
            <a:off x="838199" y="1545771"/>
            <a:ext cx="10308771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The Internet is now essential for </a:t>
            </a:r>
            <a:r>
              <a:rPr lang="en-US" altLang="en-US" sz="2800" b="1" dirty="0">
                <a:latin typeface="Arial" panose="020B0604020202020204" pitchFamily="34" charset="0"/>
              </a:rPr>
              <a:t>business, government, and social interactions</a:t>
            </a:r>
            <a:r>
              <a:rPr lang="en-US" altLang="en-US" sz="2800" dirty="0">
                <a:latin typeface="Arial" panose="020B0604020202020204" pitchFamily="34" charset="0"/>
              </a:rPr>
              <a:t>, driven by </a:t>
            </a:r>
            <a:r>
              <a:rPr lang="en-US" altLang="en-US" sz="2800" b="1" dirty="0">
                <a:latin typeface="Arial" panose="020B0604020202020204" pitchFamily="34" charset="0"/>
              </a:rPr>
              <a:t>hyper-connectivity and mobility</a:t>
            </a:r>
            <a:r>
              <a:rPr lang="en-US" altLang="en-US" sz="28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With this increased dependence, the </a:t>
            </a:r>
            <a:r>
              <a:rPr lang="en-US" altLang="en-US" sz="2800" b="1" dirty="0">
                <a:latin typeface="Arial" panose="020B0604020202020204" pitchFamily="34" charset="0"/>
              </a:rPr>
              <a:t>risk of cyber attacks</a:t>
            </a:r>
            <a:r>
              <a:rPr lang="en-US" altLang="en-US" sz="2800" dirty="0">
                <a:latin typeface="Arial" panose="020B0604020202020204" pitchFamily="34" charset="0"/>
              </a:rPr>
              <a:t> has also grown.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/>
              <a:t>Automating the extraction of cyber threat information enables </a:t>
            </a:r>
            <a:r>
              <a:rPr lang="en-US" sz="2800" b="1" dirty="0"/>
              <a:t>faster detection and response to new or evolving threats</a:t>
            </a:r>
            <a:r>
              <a:rPr lang="en-US" sz="2800" dirty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3B489-6CF8-F8B6-2DBB-6A72414DB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1B124-D05A-3182-134C-5131FAC0C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1578429"/>
            <a:ext cx="11081657" cy="4914446"/>
          </a:xfrm>
        </p:spPr>
        <p:txBody>
          <a:bodyPr>
            <a:normAutofit/>
          </a:bodyPr>
          <a:lstStyle/>
          <a:p>
            <a:r>
              <a:rPr lang="en-US" dirty="0"/>
              <a:t>This project focuses on automating the identification of emerging cyber threats using </a:t>
            </a:r>
            <a:r>
              <a:rPr lang="en-US" b="1" dirty="0"/>
              <a:t>Natural Language Processing (NLP) and Machine Learning (ML).</a:t>
            </a:r>
          </a:p>
          <a:p>
            <a:endParaRPr lang="en-IN" dirty="0"/>
          </a:p>
          <a:p>
            <a:r>
              <a:rPr lang="en-IN" b="1" dirty="0"/>
              <a:t>Machine Learning (ML)</a:t>
            </a:r>
            <a:r>
              <a:rPr lang="en-IN" dirty="0"/>
              <a:t> algorithms recognize phishing sites by identifying complex patterns in large datasets of website attributes and URLs.​</a:t>
            </a:r>
          </a:p>
          <a:p>
            <a:r>
              <a:rPr lang="en-IN" b="1" dirty="0"/>
              <a:t>Natural Language Processing (NLP) </a:t>
            </a:r>
            <a:r>
              <a:rPr lang="en-IN" dirty="0"/>
              <a:t>analyzes textual and semantic features from webpage content and URLs, uncovering subtle anomalies overlooked by standard 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055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1" cy="4351338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Data Sources</a:t>
            </a:r>
            <a:r>
              <a:rPr lang="en-IN" dirty="0"/>
              <a:t>: OpenPhish, PhishTank, Anti-Phishing Working Group datasets (phishing samples), Kaggle Phishing Website Dataset,</a:t>
            </a:r>
            <a:r>
              <a:rPr lang="en-US" b="1" dirty="0"/>
              <a:t> </a:t>
            </a:r>
            <a:r>
              <a:rPr lang="en-US" dirty="0"/>
              <a:t>OSINT (Twitter)</a:t>
            </a:r>
            <a:r>
              <a:rPr lang="en-IN" dirty="0"/>
              <a:t>.</a:t>
            </a:r>
            <a:endParaRPr lang="en-US" dirty="0"/>
          </a:p>
          <a:p>
            <a:r>
              <a:rPr lang="en-US" b="1" dirty="0"/>
              <a:t>Need for automation</a:t>
            </a:r>
            <a:br>
              <a:rPr lang="en-US" dirty="0"/>
            </a:br>
            <a:r>
              <a:rPr lang="en-US" dirty="0"/>
              <a:t>The volume and velocity of OSINT make manual monitoring infeasible. Automation (NLP + ML) is required to extract timely, actionable alerts.</a:t>
            </a:r>
          </a:p>
          <a:p>
            <a:r>
              <a:rPr lang="en-US" b="1" dirty="0"/>
              <a:t>Role of NLP in Cybersecurity</a:t>
            </a:r>
            <a:br>
              <a:rPr lang="en-US" dirty="0"/>
            </a:br>
            <a:r>
              <a:rPr lang="en-US" dirty="0"/>
              <a:t>NLP helps interpret unstructured text from tweets and reports to detect </a:t>
            </a:r>
            <a:r>
              <a:rPr lang="en-US" b="1" dirty="0"/>
              <a:t>entities</a:t>
            </a:r>
            <a:r>
              <a:rPr lang="en-US" dirty="0"/>
              <a:t>, </a:t>
            </a:r>
            <a:r>
              <a:rPr lang="en-US" b="1" dirty="0"/>
              <a:t>threat names</a:t>
            </a:r>
            <a:r>
              <a:rPr lang="en-US" dirty="0"/>
              <a:t>, and </a:t>
            </a:r>
            <a:r>
              <a:rPr lang="en-US" b="1" dirty="0"/>
              <a:t>relationships</a:t>
            </a:r>
            <a:r>
              <a:rPr lang="en-US" dirty="0"/>
              <a:t> between attack elements.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0E31C-E1FB-E7B6-FFEB-AF42D3DB3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186" y="427041"/>
            <a:ext cx="10515600" cy="1325563"/>
          </a:xfrm>
        </p:spPr>
        <p:txBody>
          <a:bodyPr/>
          <a:lstStyle/>
          <a:p>
            <a:r>
              <a:rPr lang="en-IN" b="1" dirty="0"/>
              <a:t>Literature Review (Contd.)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870C5F-3FFE-E957-D8DA-30B7553483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6186" y="1838781"/>
            <a:ext cx="11179628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gaps in prior 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Many systems </a:t>
            </a:r>
            <a:r>
              <a:rPr lang="en-US" altLang="en-US" sz="2000" b="1" dirty="0">
                <a:latin typeface="Arial" panose="020B0604020202020204" pitchFamily="34" charset="0"/>
              </a:rPr>
              <a:t>detect</a:t>
            </a:r>
            <a:r>
              <a:rPr lang="en-US" altLang="en-US" sz="2000" dirty="0">
                <a:latin typeface="Arial" panose="020B0604020202020204" pitchFamily="34" charset="0"/>
              </a:rPr>
              <a:t> possible threat events but </a:t>
            </a:r>
            <a:r>
              <a:rPr lang="en-US" altLang="en-US" sz="2000" b="1" dirty="0">
                <a:latin typeface="Arial" panose="020B0604020202020204" pitchFamily="34" charset="0"/>
              </a:rPr>
              <a:t>don’t name</a:t>
            </a:r>
            <a:r>
              <a:rPr lang="en-US" altLang="en-US" sz="2000" dirty="0">
                <a:latin typeface="Arial" panose="020B0604020202020204" pitchFamily="34" charset="0"/>
              </a:rPr>
              <a:t> or profile the threat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Limited systems map identified threats to </a:t>
            </a:r>
            <a:r>
              <a:rPr lang="en-US" sz="2400" b="1" dirty="0"/>
              <a:t>MITRE ATT&amp;CK tactics</a:t>
            </a:r>
            <a:r>
              <a:rPr lang="en-US" sz="2400" dirty="0"/>
              <a:t> for understanding attacker behavior.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u="sng" dirty="0"/>
              <a:t>Contribution of This Work</a:t>
            </a:r>
            <a:endParaRPr lang="en-US" sz="2400" u="sng" dirty="0"/>
          </a:p>
          <a:p>
            <a:r>
              <a:rPr lang="en-US" sz="2000" dirty="0"/>
              <a:t>Proposes an </a:t>
            </a:r>
            <a:r>
              <a:rPr lang="en-US" sz="2000" b="1" dirty="0"/>
              <a:t>automated NLP-ML pipeline</a:t>
            </a:r>
            <a:r>
              <a:rPr lang="en-US" sz="2000" dirty="0"/>
              <a:t> for detecting and profiling emerging cyber threats.</a:t>
            </a:r>
          </a:p>
          <a:p>
            <a:r>
              <a:rPr lang="en-US" sz="2000" dirty="0"/>
              <a:t>Uses </a:t>
            </a:r>
            <a:r>
              <a:rPr lang="en-US" sz="2000" b="1" dirty="0"/>
              <a:t>One-Class Classification</a:t>
            </a:r>
            <a:r>
              <a:rPr lang="en-US" sz="2000" dirty="0"/>
              <a:t> to filter irrelevant tweets and </a:t>
            </a:r>
            <a:r>
              <a:rPr lang="en-US" sz="2000" b="1" dirty="0"/>
              <a:t>Multi-Class Classification</a:t>
            </a:r>
            <a:r>
              <a:rPr lang="en-US" sz="2000" dirty="0"/>
              <a:t> to map threats to MITRE ATT&amp;CK tactics.</a:t>
            </a:r>
          </a:p>
          <a:p>
            <a:r>
              <a:rPr lang="en-US" sz="2000" dirty="0"/>
              <a:t>Employs </a:t>
            </a:r>
            <a:r>
              <a:rPr lang="en-US" sz="2000" b="1" dirty="0"/>
              <a:t>TF-IDF</a:t>
            </a:r>
            <a:r>
              <a:rPr lang="en-US" sz="2000" dirty="0"/>
              <a:t>, </a:t>
            </a:r>
            <a:r>
              <a:rPr lang="en-US" sz="2000" b="1" dirty="0"/>
              <a:t>NER</a:t>
            </a:r>
            <a:r>
              <a:rPr lang="en-US" sz="2000" dirty="0"/>
              <a:t>, and </a:t>
            </a:r>
            <a:r>
              <a:rPr lang="en-US" sz="2000" b="1" dirty="0"/>
              <a:t>normalization</a:t>
            </a:r>
            <a:r>
              <a:rPr lang="en-US" sz="2000" dirty="0"/>
              <a:t> techniques for accurate threat name identification.</a:t>
            </a:r>
          </a:p>
          <a:p>
            <a:r>
              <a:rPr lang="en-US" sz="2000" dirty="0"/>
              <a:t>Generates </a:t>
            </a:r>
            <a:r>
              <a:rPr lang="en-US" sz="2000" b="1" dirty="0"/>
              <a:t>timely alerts</a:t>
            </a:r>
            <a:r>
              <a:rPr lang="en-US" sz="2000" dirty="0"/>
              <a:t> enriched with risk assessment for cybersecurity engineers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799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199"/>
            <a:ext cx="10515600" cy="4576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Traditional phishing website detection methods, such as maintaining blacklists or manually verifying websites, are slow and ineffective against newly created phishing sites.</a:t>
            </a:r>
          </a:p>
          <a:p>
            <a:r>
              <a:rPr lang="en-US" dirty="0"/>
              <a:t>Need for an intelligent system that can automatically detect phishing websites by analyzing their content and structure by using </a:t>
            </a:r>
            <a:r>
              <a:rPr lang="en-US" b="1" dirty="0"/>
              <a:t>Natural Language Processing (NLP)</a:t>
            </a:r>
            <a:r>
              <a:rPr lang="en-US" dirty="0"/>
              <a:t> and </a:t>
            </a:r>
            <a:r>
              <a:rPr lang="en-US" b="1" dirty="0"/>
              <a:t>Machine Learning (ML)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To improve the accuracy and speed of phishing detection compared to traditional methods.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Adaptation to Evolving Attacks : </a:t>
            </a:r>
            <a:r>
              <a:rPr lang="en-US" dirty="0"/>
              <a:t>To create an adaptive and dynamic defense system that can learn and recognize the ever-changing patterns of sophisticated phishing techniques</a:t>
            </a:r>
          </a:p>
          <a:p>
            <a:endParaRPr lang="en-US" dirty="0"/>
          </a:p>
          <a:p>
            <a:r>
              <a:rPr lang="en-US" dirty="0"/>
              <a:t>To help users stay safe online by warning them about potentially harmful websites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1" y="154894"/>
            <a:ext cx="10515600" cy="1325563"/>
          </a:xfrm>
        </p:spPr>
        <p:txBody>
          <a:bodyPr/>
          <a:lstStyle/>
          <a:p>
            <a:r>
              <a:rPr lang="en-IN" b="1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2" y="1502228"/>
            <a:ext cx="11375572" cy="52008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dirty="0"/>
              <a:t>The proposed framework automatically identifies emerging cyber threats by analyzing data from social media using NLP and ML.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600" b="1" u="sng" dirty="0"/>
              <a:t>Approach Overview:</a:t>
            </a:r>
            <a:endParaRPr lang="en-US" sz="2600" u="sng" dirty="0"/>
          </a:p>
          <a:p>
            <a:r>
              <a:rPr lang="en-US" sz="2600" b="1" dirty="0"/>
              <a:t>Continuous Monitoring</a:t>
            </a:r>
            <a:r>
              <a:rPr lang="en-US" sz="2600" dirty="0"/>
              <a:t> :Collect cybersecurity-related tweets from verified experts and companies.</a:t>
            </a:r>
          </a:p>
          <a:p>
            <a:r>
              <a:rPr lang="en-US" sz="2600" b="1" dirty="0"/>
              <a:t>NLP + ML Processing</a:t>
            </a:r>
            <a:r>
              <a:rPr lang="en-US" sz="2600" dirty="0"/>
              <a:t> :Use NLP to extract terms and ML to classify potential threats.</a:t>
            </a:r>
          </a:p>
          <a:p>
            <a:r>
              <a:rPr lang="en-US" sz="2600" b="1" dirty="0"/>
              <a:t>MITRE ATT&amp;CK Mapping</a:t>
            </a:r>
            <a:r>
              <a:rPr lang="en-US" sz="2600" dirty="0"/>
              <a:t> : Match identified threats to MITRE ATT&amp;CK tactics.</a:t>
            </a:r>
          </a:p>
          <a:p>
            <a:r>
              <a:rPr lang="en-US" sz="2600" b="1" dirty="0"/>
              <a:t>Alert Generation</a:t>
            </a:r>
            <a:r>
              <a:rPr lang="en-US" sz="2600" dirty="0"/>
              <a:t> :Create alerts for newly emerging or evolving threats, with risk ratings.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600" b="1" u="sng" dirty="0"/>
              <a:t>Outcome:</a:t>
            </a:r>
            <a:br>
              <a:rPr lang="en-US" sz="2600" dirty="0"/>
            </a:br>
            <a:r>
              <a:rPr lang="en-US" sz="2600" dirty="0"/>
              <a:t>Automated, real-time system that assists cybersecurity engineers in </a:t>
            </a:r>
            <a:r>
              <a:rPr lang="en-US" sz="2600" b="1" dirty="0"/>
              <a:t>early detection and response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BDA22-DE86-3FF6-4C56-144E000E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Proposed</a:t>
            </a:r>
            <a:b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Methodology</a:t>
            </a:r>
            <a:b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BAD2FF3-3C7B-FCBC-7A0B-4FBD66D598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8" b="29934"/>
          <a:stretch>
            <a:fillRect/>
          </a:stretch>
        </p:blipFill>
        <p:spPr>
          <a:xfrm>
            <a:off x="5114730" y="643466"/>
            <a:ext cx="6105871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595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77F84-AEB2-73B5-873D-5FBC78C80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753"/>
            <a:ext cx="10515600" cy="1325563"/>
          </a:xfrm>
        </p:spPr>
        <p:txBody>
          <a:bodyPr/>
          <a:lstStyle/>
          <a:p>
            <a:r>
              <a:rPr lang="en-IN" b="1" dirty="0"/>
              <a:t>Proposed Methodology (Contd.)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8AA401E-26EB-507C-772F-4C94AD073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371" y="1253330"/>
            <a:ext cx="10515600" cy="53869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Data Collection Layer</a:t>
            </a:r>
          </a:p>
          <a:p>
            <a:pPr marL="0" indent="0">
              <a:buNone/>
            </a:pPr>
            <a:r>
              <a:rPr lang="en-US" sz="2400" dirty="0"/>
              <a:t>The system collects data from:</a:t>
            </a:r>
          </a:p>
          <a:p>
            <a:pPr marL="0" indent="0">
              <a:buNone/>
            </a:pPr>
            <a:r>
              <a:rPr lang="en-US" sz="2400" dirty="0"/>
              <a:t>Public phishing datasets (Kaggle, UCI, </a:t>
            </a:r>
            <a:r>
              <a:rPr lang="en-US" sz="2400" dirty="0" err="1"/>
              <a:t>PhishTank</a:t>
            </a:r>
            <a:r>
              <a:rPr lang="en-US" sz="2400" dirty="0"/>
              <a:t>, </a:t>
            </a:r>
            <a:r>
              <a:rPr lang="en-US" sz="2400" dirty="0" err="1"/>
              <a:t>OpenPhish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Real-time OSINT sources (Twitter, security blogs)</a:t>
            </a:r>
          </a:p>
          <a:p>
            <a:pPr marL="0" indent="0">
              <a:buNone/>
            </a:pPr>
            <a:r>
              <a:rPr lang="en-US" sz="2400" dirty="0"/>
              <a:t>Webpage scraping mechanisms</a:t>
            </a:r>
          </a:p>
          <a:p>
            <a:pPr marL="0" indent="0">
              <a:buNone/>
            </a:pPr>
            <a:r>
              <a:rPr lang="en-US" sz="2400" dirty="0"/>
              <a:t>This ensures coverage of both historical phishing data and emerging threats.</a:t>
            </a:r>
          </a:p>
          <a:p>
            <a:pPr marL="0" indent="0">
              <a:buNone/>
            </a:pPr>
            <a:r>
              <a:rPr lang="en-IN" b="1" dirty="0"/>
              <a:t>2. Feature Extraction</a:t>
            </a:r>
          </a:p>
          <a:p>
            <a:r>
              <a:rPr lang="en-IN" sz="2400" dirty="0"/>
              <a:t>URL-Based Features</a:t>
            </a:r>
          </a:p>
          <a:p>
            <a:r>
              <a:rPr lang="en-IN" sz="2400" dirty="0"/>
              <a:t>Webpage Content Features</a:t>
            </a:r>
          </a:p>
          <a:p>
            <a:r>
              <a:rPr lang="en-IN" sz="2400" dirty="0"/>
              <a:t>NLP-Based Text Features</a:t>
            </a:r>
          </a:p>
        </p:txBody>
      </p:sp>
    </p:spTree>
    <p:extLst>
      <p:ext uri="{BB962C8B-B14F-4D97-AF65-F5344CB8AC3E}">
        <p14:creationId xmlns:p14="http://schemas.microsoft.com/office/powerpoint/2010/main" val="1338821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47D67-92E5-5796-4DC9-24C6DD4AD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IN" b="1" dirty="0"/>
              <a:t>Proposed Methodology (Contd.)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F08EE-E8AE-DE3E-ABD1-7180B440D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343818"/>
            <a:ext cx="11386457" cy="5514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3. Machine Learning Detection Layer</a:t>
            </a:r>
          </a:p>
          <a:p>
            <a:pPr marL="0" indent="0">
              <a:buNone/>
            </a:pPr>
            <a:r>
              <a:rPr lang="en-IN" sz="2400" dirty="0"/>
              <a:t>The core detection engine uses:</a:t>
            </a:r>
          </a:p>
          <a:p>
            <a:pPr marL="0" indent="0">
              <a:buNone/>
            </a:pPr>
            <a:r>
              <a:rPr lang="en-IN" sz="2400" b="1" dirty="0" err="1"/>
              <a:t>XGBoost</a:t>
            </a:r>
            <a:r>
              <a:rPr lang="en-IN" sz="2400" b="1" dirty="0"/>
              <a:t> (Primary Model)</a:t>
            </a:r>
          </a:p>
          <a:p>
            <a:r>
              <a:rPr lang="en-IN" sz="2400" dirty="0"/>
              <a:t>High accuracy</a:t>
            </a:r>
          </a:p>
          <a:p>
            <a:r>
              <a:rPr lang="en-IN" sz="2400" dirty="0"/>
              <a:t>Handles imbalanced datasets</a:t>
            </a:r>
          </a:p>
          <a:p>
            <a:r>
              <a:rPr lang="en-IN" sz="2400" dirty="0"/>
              <a:t>Strong performance on structured features</a:t>
            </a:r>
          </a:p>
          <a:p>
            <a:pPr marL="0" indent="0">
              <a:buNone/>
            </a:pPr>
            <a:r>
              <a:rPr lang="en-IN" sz="2400" b="1" dirty="0"/>
              <a:t>Random Forest (Secondary Model)</a:t>
            </a:r>
          </a:p>
          <a:p>
            <a:r>
              <a:rPr lang="en-IN" sz="2400" dirty="0"/>
              <a:t>Used for comparison and ensemble learning</a:t>
            </a:r>
          </a:p>
          <a:p>
            <a:pPr marL="0" indent="0">
              <a:buNone/>
            </a:pPr>
            <a:r>
              <a:rPr lang="en-IN" sz="2400" b="1" dirty="0"/>
              <a:t>BERT Model</a:t>
            </a:r>
          </a:p>
          <a:p>
            <a:r>
              <a:rPr lang="en-IN" sz="2400" dirty="0"/>
              <a:t>Used for </a:t>
            </a:r>
            <a:r>
              <a:rPr lang="en-IN" sz="2400" dirty="0" err="1"/>
              <a:t>analyzing</a:t>
            </a:r>
            <a:r>
              <a:rPr lang="en-IN" sz="2400" dirty="0"/>
              <a:t> webpage content and social media posts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18418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083E1-EE87-AC16-F5FD-CAED46407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b="1" dirty="0"/>
              <a:t>Proposed Methodology (Contd.)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20B1F-26F3-C744-F7D6-C83DA8BC3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3" y="1404257"/>
            <a:ext cx="11353799" cy="533400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4. </a:t>
            </a:r>
            <a:r>
              <a:rPr lang="en-US" b="1" dirty="0"/>
              <a:t>Threat Profiling (MITRE ATT&amp;CK Mapping)</a:t>
            </a:r>
          </a:p>
          <a:p>
            <a:pPr marL="0" indent="0">
              <a:buNone/>
            </a:pPr>
            <a:r>
              <a:rPr lang="en-US" sz="2400" dirty="0"/>
              <a:t>Once a website is classified as phishing, the system profiles it according to MITRE ATT&amp;CK tactics: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			</a:t>
            </a:r>
          </a:p>
          <a:p>
            <a:pPr marL="0" indent="0">
              <a:buNone/>
            </a:pPr>
            <a:r>
              <a:rPr lang="en-US" sz="2400" dirty="0"/>
              <a:t>		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This provides contextual intelligence instead of just a binary decision.</a:t>
            </a: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AA2315-E4BE-0F78-B1DD-3CFE2AC7D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014090"/>
              </p:ext>
            </p:extLst>
          </p:nvPr>
        </p:nvGraphicFramePr>
        <p:xfrm>
          <a:off x="2032000" y="2756020"/>
          <a:ext cx="8128000" cy="29311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7890640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0222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dirty="0"/>
                        <a:t>Phishing Behavior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Mapped Tactic</a:t>
                      </a:r>
                    </a:p>
                    <a:p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281857"/>
                  </a:ext>
                </a:extLst>
              </a:tr>
              <a:tr h="461071">
                <a:tc>
                  <a:txBody>
                    <a:bodyPr/>
                    <a:lstStyle/>
                    <a:p>
                      <a:r>
                        <a:rPr lang="en-US" sz="1800" b="1" dirty="0"/>
                        <a:t>Fake login page</a:t>
                      </a:r>
                      <a:endParaRPr lang="en-IN" sz="1800" b="1" dirty="0"/>
                    </a:p>
                    <a:p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Credential Access</a:t>
                      </a:r>
                    </a:p>
                    <a:p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63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Email phishing campaign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Initial Access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647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Data harvesting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Exfiltration</a:t>
                      </a:r>
                    </a:p>
                    <a:p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660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Redirection attack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Defense Evasion</a:t>
                      </a:r>
                    </a:p>
                    <a:p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298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0061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417F0E-0D90-A39E-DE83-6E97764AE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 dirty="0"/>
              <a:t>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1274E5-D849-21F9-E410-73225A33B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3159217"/>
            <a:ext cx="5828261" cy="2943272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E866C9-6D1C-11E8-DCD7-B27748A55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82505" y="3159217"/>
            <a:ext cx="5828261" cy="29432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50C714-99DE-C2D0-BF12-D5E33C71CE7E}"/>
              </a:ext>
            </a:extLst>
          </p:cNvPr>
          <p:cNvSpPr txBox="1"/>
          <p:nvPr/>
        </p:nvSpPr>
        <p:spPr>
          <a:xfrm>
            <a:off x="2350542" y="2232573"/>
            <a:ext cx="3743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err="1"/>
              <a:t>XGBoost</a:t>
            </a:r>
            <a:endParaRPr lang="en-IN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05173D-E378-D6ED-DE52-8825A4CB3A1D}"/>
              </a:ext>
            </a:extLst>
          </p:cNvPr>
          <p:cNvSpPr txBox="1"/>
          <p:nvPr/>
        </p:nvSpPr>
        <p:spPr>
          <a:xfrm>
            <a:off x="7842290" y="2232573"/>
            <a:ext cx="3743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2854865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B3467-B9A5-E702-B36D-8EDA7CBB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/>
              <a:t>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7D293-2597-1547-188D-0384AE5E3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3" y="1208314"/>
            <a:ext cx="11375571" cy="52686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project successfully demonstrates that machine learning techniques, particularly </a:t>
            </a:r>
            <a:r>
              <a:rPr lang="en-US" dirty="0" err="1"/>
              <a:t>XGBoost</a:t>
            </a:r>
            <a:r>
              <a:rPr lang="en-US" dirty="0"/>
              <a:t>, can effectively detect phishing websites with high accuracy (approximately 98–99%). The system provides a scalable and practical solution for early detection of malicious websites and contributes toward improving cybersecurity defenses</a:t>
            </a:r>
            <a:r>
              <a:rPr lang="en-US" b="1" dirty="0"/>
              <a:t>.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1.Dataset Preparation &amp; Preprocessing</a:t>
            </a:r>
          </a:p>
          <a:p>
            <a:r>
              <a:rPr lang="en-IN" sz="1900" dirty="0"/>
              <a:t>Collected and </a:t>
            </a:r>
            <a:r>
              <a:rPr lang="en-IN" sz="1900" dirty="0" err="1"/>
              <a:t>analyzed</a:t>
            </a:r>
            <a:r>
              <a:rPr lang="en-IN" sz="1900" dirty="0"/>
              <a:t> a phishing website dataset containing 80+ engineered features.</a:t>
            </a:r>
          </a:p>
          <a:p>
            <a:r>
              <a:rPr lang="en-IN" sz="1900" dirty="0"/>
              <a:t>Cleaned and </a:t>
            </a:r>
            <a:r>
              <a:rPr lang="en-IN" sz="1900" dirty="0" err="1"/>
              <a:t>preprocessed</a:t>
            </a:r>
            <a:r>
              <a:rPr lang="en-IN" sz="1900" dirty="0"/>
              <a:t> data by removing irrelevant fields (e.g., URL text column).</a:t>
            </a:r>
          </a:p>
          <a:p>
            <a:r>
              <a:rPr lang="en-IN" sz="1900" dirty="0"/>
              <a:t>Encoded categorical labels (“legitimate”, “phishing”) into numerical format for model training.</a:t>
            </a:r>
          </a:p>
          <a:p>
            <a:pPr marL="0" indent="0">
              <a:buNone/>
            </a:pPr>
            <a:r>
              <a:rPr lang="en-IN" b="1" dirty="0"/>
              <a:t>2.Model Development</a:t>
            </a:r>
          </a:p>
          <a:p>
            <a:r>
              <a:rPr lang="en-IN" sz="1800" dirty="0"/>
              <a:t>Implemented and trained multiple machine learning models:</a:t>
            </a:r>
          </a:p>
          <a:p>
            <a:r>
              <a:rPr lang="en-IN" sz="1800" dirty="0"/>
              <a:t>Random Forest Classifier</a:t>
            </a:r>
          </a:p>
          <a:p>
            <a:r>
              <a:rPr lang="en-IN" sz="1800" dirty="0" err="1"/>
              <a:t>XGBoost</a:t>
            </a:r>
            <a:r>
              <a:rPr lang="en-IN" sz="1800" dirty="0"/>
              <a:t> Classifier</a:t>
            </a:r>
          </a:p>
          <a:p>
            <a:r>
              <a:rPr lang="en-IN" sz="1800" dirty="0"/>
              <a:t>Performed train-test splitting and model evaluation using standard metrics.</a:t>
            </a:r>
          </a:p>
        </p:txBody>
      </p:sp>
    </p:spTree>
    <p:extLst>
      <p:ext uri="{BB962C8B-B14F-4D97-AF65-F5344CB8AC3E}">
        <p14:creationId xmlns:p14="http://schemas.microsoft.com/office/powerpoint/2010/main" val="19375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20B7-86EA-B8B3-A49F-D1FD17CC6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01839"/>
            <a:ext cx="10515600" cy="1325563"/>
          </a:xfrm>
        </p:spPr>
        <p:txBody>
          <a:bodyPr/>
          <a:lstStyle/>
          <a:p>
            <a:r>
              <a:rPr lang="en-IN" b="1" dirty="0"/>
              <a:t>Outcome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0AD1D-847A-D3E6-D823-FD03F2852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401"/>
            <a:ext cx="10515600" cy="5047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900" b="1" dirty="0"/>
              <a:t>3.Performance Evaluation</a:t>
            </a:r>
          </a:p>
          <a:p>
            <a:r>
              <a:rPr lang="en-IN" sz="1800" dirty="0"/>
              <a:t>Achieved high classification accuracy:</a:t>
            </a:r>
          </a:p>
          <a:p>
            <a:r>
              <a:rPr lang="en-IN" sz="1800" dirty="0"/>
              <a:t>Random Forest: 97–98%</a:t>
            </a:r>
          </a:p>
          <a:p>
            <a:r>
              <a:rPr lang="en-IN" sz="1800" dirty="0" err="1"/>
              <a:t>XGBoost</a:t>
            </a:r>
            <a:r>
              <a:rPr lang="en-IN" sz="1800" dirty="0"/>
              <a:t>: 97–98%</a:t>
            </a:r>
          </a:p>
          <a:p>
            <a:pPr marL="0" indent="0">
              <a:buNone/>
            </a:pPr>
            <a:r>
              <a:rPr lang="en-IN" b="1" dirty="0"/>
              <a:t>Evaluated models using:</a:t>
            </a:r>
          </a:p>
          <a:p>
            <a:r>
              <a:rPr lang="en-IN" sz="1800" dirty="0"/>
              <a:t>Accuracy</a:t>
            </a:r>
          </a:p>
          <a:p>
            <a:r>
              <a:rPr lang="en-IN" sz="1800" dirty="0"/>
              <a:t>Precision</a:t>
            </a:r>
          </a:p>
          <a:p>
            <a:r>
              <a:rPr lang="en-IN" sz="1800" dirty="0"/>
              <a:t>Recall</a:t>
            </a:r>
          </a:p>
          <a:p>
            <a:r>
              <a:rPr lang="en-IN" sz="1800" dirty="0"/>
              <a:t>F1-Score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95545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Marinho, R., &amp; Holanda, R. (2023). </a:t>
            </a:r>
            <a:r>
              <a:rPr lang="en-US" i="1" dirty="0"/>
              <a:t>Automated emerging cyber threat identification and profiling based on natural language processing.</a:t>
            </a:r>
            <a:r>
              <a:rPr lang="en-US" dirty="0"/>
              <a:t> IEEE Access</a:t>
            </a:r>
          </a:p>
          <a:p>
            <a:r>
              <a:rPr lang="en-US" dirty="0"/>
              <a:t>Silvestri, S. et al. (2023). </a:t>
            </a:r>
            <a:r>
              <a:rPr lang="en-US" i="1" dirty="0"/>
              <a:t>A Machine Learning Approach for the NLP-Based Analysis of Cyber Threats and Vulnerabilities of the Healthcare Ecosystem.</a:t>
            </a:r>
            <a:r>
              <a:rPr lang="en-US" dirty="0"/>
              <a:t> Sensors, 23(3), 1225.</a:t>
            </a:r>
          </a:p>
          <a:p>
            <a:pPr lvl="0"/>
            <a:r>
              <a:rPr lang="en-IN" dirty="0"/>
              <a:t>Sahingoz, O. K., Buber, E., Demir, O., &amp; Diri, B. (2019). </a:t>
            </a:r>
            <a:r>
              <a:rPr lang="en-IN" i="1" dirty="0"/>
              <a:t>Machine learning based phishing detection from URLs</a:t>
            </a:r>
            <a:r>
              <a:rPr lang="en-IN" dirty="0"/>
              <a:t>. Expert Systems with Applications, 117, 345–357.</a:t>
            </a:r>
          </a:p>
          <a:p>
            <a:pPr lvl="0"/>
            <a:r>
              <a:rPr lang="en-IN" dirty="0"/>
              <a:t>OpenPhish. (2024). </a:t>
            </a:r>
            <a:r>
              <a:rPr lang="en-IN" i="1" dirty="0"/>
              <a:t>OpenPhish Phishing Intelligence Feed</a:t>
            </a:r>
            <a:r>
              <a:rPr lang="en-IN" dirty="0"/>
              <a:t>.</a:t>
            </a:r>
          </a:p>
          <a:p>
            <a:r>
              <a:rPr lang="en-IN" dirty="0"/>
              <a:t>PhishTank. (2024). </a:t>
            </a:r>
            <a:r>
              <a:rPr lang="en-IN" i="1" dirty="0"/>
              <a:t>PhishTank—Collaborative clearing house for phishing data</a:t>
            </a:r>
            <a:endParaRPr lang="en-US" dirty="0"/>
          </a:p>
          <a:p>
            <a:pPr marL="0" indent="0">
              <a:buNone/>
            </a:pPr>
            <a:endParaRPr lang="en-IN" dirty="0">
              <a:solidFill>
                <a:srgbClr val="0D0D0D"/>
              </a:solidFill>
              <a:latin typeface="ui-sans-serif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2884</TotalTime>
  <Words>1050</Words>
  <Application>Microsoft Office PowerPoint</Application>
  <PresentationFormat>Widescreen</PresentationFormat>
  <Paragraphs>133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ui-sans-serif</vt:lpstr>
      <vt:lpstr>Wingdings</vt:lpstr>
      <vt:lpstr>Office Theme</vt:lpstr>
      <vt:lpstr>PHISHING WEBSITE DETECTION USING NLP AND ML</vt:lpstr>
      <vt:lpstr>Outline</vt:lpstr>
      <vt:lpstr>Introduction</vt:lpstr>
      <vt:lpstr>Introduction (Contd.)</vt:lpstr>
      <vt:lpstr>Literature Review</vt:lpstr>
      <vt:lpstr>Literature Review (Contd.)</vt:lpstr>
      <vt:lpstr>Problem Statement</vt:lpstr>
      <vt:lpstr>Objectives</vt:lpstr>
      <vt:lpstr>Proposed Methodology</vt:lpstr>
      <vt:lpstr>Proposed Methodology </vt:lpstr>
      <vt:lpstr>Proposed Methodology (Contd.)</vt:lpstr>
      <vt:lpstr>Proposed Methodology (Contd.)</vt:lpstr>
      <vt:lpstr>Proposed Methodology (Contd.)</vt:lpstr>
      <vt:lpstr>Result</vt:lpstr>
      <vt:lpstr>Outcome</vt:lpstr>
      <vt:lpstr>Outcome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Vardaan Thakur [CSE - 2024]</cp:lastModifiedBy>
  <cp:revision>27</cp:revision>
  <dcterms:created xsi:type="dcterms:W3CDTF">2025-09-29T05:03:41Z</dcterms:created>
  <dcterms:modified xsi:type="dcterms:W3CDTF">2026-02-15T17:45:33Z</dcterms:modified>
</cp:coreProperties>
</file>