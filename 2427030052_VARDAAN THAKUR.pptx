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0" r:id="rId1"/>
  </p:sldMasterIdLst>
  <p:sldIdLst>
    <p:sldId id="256" r:id="rId2"/>
    <p:sldId id="257" r:id="rId3"/>
    <p:sldId id="258" r:id="rId4"/>
    <p:sldId id="265" r:id="rId5"/>
    <p:sldId id="259" r:id="rId6"/>
    <p:sldId id="267" r:id="rId7"/>
    <p:sldId id="260" r:id="rId8"/>
    <p:sldId id="262" r:id="rId9"/>
    <p:sldId id="261" r:id="rId10"/>
    <p:sldId id="271" r:id="rId11"/>
    <p:sldId id="268" r:id="rId12"/>
    <p:sldId id="269" r:id="rId13"/>
    <p:sldId id="270" r:id="rId14"/>
    <p:sldId id="272" r:id="rId15"/>
    <p:sldId id="273" r:id="rId16"/>
    <p:sldId id="274" r:id="rId17"/>
    <p:sldId id="263" r:id="rId18"/>
    <p:sldId id="26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7720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6713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566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2508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915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750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5100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3547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172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1149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6599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ACB4A-C46D-47C8-95BF-463F9F428625}" type="datetimeFigureOut">
              <a:rPr lang="en-IN" smtClean="0"/>
              <a:t>18-02-2026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2EA575-0560-4EBC-AD65-A546BB5C467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8752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B14B-13FD-63D0-B558-FA2B9FA1B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9857" y="2860161"/>
            <a:ext cx="11212285" cy="162678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PHISHING WEBSITE DETECTION USING NLP AND ML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DAA6DE-3B6C-1A2F-6135-52EEA7D165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9715" y="4890977"/>
            <a:ext cx="3505200" cy="1390080"/>
          </a:xfrm>
        </p:spPr>
        <p:txBody>
          <a:bodyPr>
            <a:normAutofit/>
          </a:bodyPr>
          <a:lstStyle/>
          <a:p>
            <a:r>
              <a:rPr lang="en-IN" b="1" dirty="0"/>
              <a:t>Submitted By:</a:t>
            </a:r>
            <a:br>
              <a:rPr lang="en-IN" b="1" dirty="0"/>
            </a:br>
            <a:r>
              <a:rPr lang="en-IN" b="1" dirty="0"/>
              <a:t>VARDAAN THAKUR</a:t>
            </a:r>
          </a:p>
          <a:p>
            <a:r>
              <a:rPr lang="en-IN" b="1" dirty="0"/>
              <a:t>2427030052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265C3A1-7DE8-FF2B-D7D7-6CB2859C63C2}"/>
              </a:ext>
            </a:extLst>
          </p:cNvPr>
          <p:cNvSpPr txBox="1">
            <a:spLocks/>
          </p:cNvSpPr>
          <p:nvPr/>
        </p:nvSpPr>
        <p:spPr>
          <a:xfrm>
            <a:off x="7875203" y="4883885"/>
            <a:ext cx="3239386" cy="12227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Supervised By:</a:t>
            </a:r>
            <a:br>
              <a:rPr lang="en-IN" b="1" dirty="0"/>
            </a:br>
            <a:r>
              <a:rPr lang="en-IN" b="1" dirty="0"/>
              <a:t>Dr. Usha Jain</a:t>
            </a:r>
          </a:p>
          <a:p>
            <a:endParaRPr lang="en-IN" dirty="0"/>
          </a:p>
        </p:txBody>
      </p:sp>
      <p:pic>
        <p:nvPicPr>
          <p:cNvPr id="8" name="Picture 7" descr="A black and white text&#10;&#10;AI-generated content may be incorrect.">
            <a:extLst>
              <a:ext uri="{FF2B5EF4-FFF2-40B4-BE49-F238E27FC236}">
                <a16:creationId xmlns:a16="http://schemas.microsoft.com/office/drawing/2014/main" id="{2AD7126F-2B55-B457-37C9-C05FFDD4D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56" y="36039"/>
            <a:ext cx="4174039" cy="122274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8466A34-BD34-5DB1-EC2B-14EE0BD5593C}"/>
              </a:ext>
            </a:extLst>
          </p:cNvPr>
          <p:cNvSpPr txBox="1">
            <a:spLocks/>
          </p:cNvSpPr>
          <p:nvPr/>
        </p:nvSpPr>
        <p:spPr>
          <a:xfrm>
            <a:off x="1527542" y="1258784"/>
            <a:ext cx="9144000" cy="111227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2800" b="1" dirty="0"/>
              <a:t>School of Computer Science and Engineering</a:t>
            </a:r>
          </a:p>
          <a:p>
            <a:pPr>
              <a:lnSpc>
                <a:spcPct val="150000"/>
              </a:lnSpc>
            </a:pPr>
            <a:r>
              <a:rPr lang="en-IN" sz="2800" b="1" dirty="0"/>
              <a:t>Department of Computer Science and Engineering</a:t>
            </a:r>
          </a:p>
        </p:txBody>
      </p:sp>
    </p:spTree>
    <p:extLst>
      <p:ext uri="{BB962C8B-B14F-4D97-AF65-F5344CB8AC3E}">
        <p14:creationId xmlns:p14="http://schemas.microsoft.com/office/powerpoint/2010/main" val="380237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1AEC-0C6A-CF04-A6F2-DE0426255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6A8CF-2937-6FE2-6F8A-377D2DF1D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Introduction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Literature Review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Problem Statement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Proposed Methodology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Objectives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References</a:t>
            </a:r>
          </a:p>
          <a:p>
            <a:pPr>
              <a:buFont typeface="Wingdings" panose="05000000000000000000" pitchFamily="2" charset="2"/>
              <a:buChar char="v"/>
            </a:pPr>
            <a:endParaRPr lang="en-IN" dirty="0"/>
          </a:p>
          <a:p>
            <a:pPr>
              <a:buFont typeface="Wingdings" panose="05000000000000000000" pitchFamily="2" charset="2"/>
              <a:buChar char="v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7219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A96B-B72E-0C72-F61B-C99183D10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Introduction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D85437-89CB-104F-22CB-DC5F383D49BA}"/>
              </a:ext>
            </a:extLst>
          </p:cNvPr>
          <p:cNvSpPr txBox="1"/>
          <p:nvPr/>
        </p:nvSpPr>
        <p:spPr>
          <a:xfrm>
            <a:off x="838199" y="1545771"/>
            <a:ext cx="10308771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>
                <a:latin typeface="Arial" panose="020B0604020202020204" pitchFamily="34" charset="0"/>
              </a:rPr>
              <a:t>The Internet is now essential for </a:t>
            </a:r>
            <a:r>
              <a:rPr lang="en-US" altLang="en-US" sz="2800" b="1" dirty="0">
                <a:latin typeface="Arial" panose="020B0604020202020204" pitchFamily="34" charset="0"/>
              </a:rPr>
              <a:t>business, government, and social interactions</a:t>
            </a:r>
            <a:r>
              <a:rPr lang="en-US" altLang="en-US" sz="2800" dirty="0">
                <a:latin typeface="Arial" panose="020B0604020202020204" pitchFamily="34" charset="0"/>
              </a:rPr>
              <a:t>, driven by </a:t>
            </a:r>
            <a:r>
              <a:rPr lang="en-US" altLang="en-US" sz="2800" b="1" dirty="0">
                <a:latin typeface="Arial" panose="020B0604020202020204" pitchFamily="34" charset="0"/>
              </a:rPr>
              <a:t>hyper-connectivity and mobility</a:t>
            </a:r>
            <a:r>
              <a:rPr lang="en-US" altLang="en-US" sz="2800" dirty="0">
                <a:latin typeface="Arial" panose="020B0604020202020204" pitchFamily="34" charset="0"/>
              </a:rPr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8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>
                <a:latin typeface="Arial" panose="020B0604020202020204" pitchFamily="34" charset="0"/>
              </a:rPr>
              <a:t>With this increased dependence, the </a:t>
            </a:r>
            <a:r>
              <a:rPr lang="en-US" altLang="en-US" sz="2800" b="1" dirty="0">
                <a:latin typeface="Arial" panose="020B0604020202020204" pitchFamily="34" charset="0"/>
              </a:rPr>
              <a:t>risk of cyber attacks</a:t>
            </a:r>
            <a:r>
              <a:rPr lang="en-US" altLang="en-US" sz="2800" dirty="0">
                <a:latin typeface="Arial" panose="020B0604020202020204" pitchFamily="34" charset="0"/>
              </a:rPr>
              <a:t> has also grown.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800" dirty="0"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800" dirty="0"/>
              <a:t>Automating the extraction of cyber threat information enables </a:t>
            </a:r>
            <a:r>
              <a:rPr lang="en-US" sz="2800" b="1" dirty="0"/>
              <a:t>faster detection and response to new or evolving threats</a:t>
            </a:r>
            <a:r>
              <a:rPr lang="en-US" sz="2800" dirty="0"/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800" dirty="0">
              <a:latin typeface="Arial" panose="020B060402020202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8976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3B489-6CF8-F8B6-2DBB-6A72414DB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Introduction (Contd.)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1B124-D05A-3182-134C-5131FAC0C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257" y="1578429"/>
            <a:ext cx="11081657" cy="4914446"/>
          </a:xfrm>
        </p:spPr>
        <p:txBody>
          <a:bodyPr>
            <a:normAutofit/>
          </a:bodyPr>
          <a:lstStyle/>
          <a:p>
            <a:r>
              <a:rPr lang="en-US" dirty="0"/>
              <a:t>This project focuses on automating the identification of emerging cyber threats using </a:t>
            </a:r>
            <a:r>
              <a:rPr lang="en-US" b="1" dirty="0"/>
              <a:t>Natural Language Processing (NLP) and Machine Learning (ML).</a:t>
            </a:r>
          </a:p>
          <a:p>
            <a:endParaRPr lang="en-IN" dirty="0"/>
          </a:p>
          <a:p>
            <a:r>
              <a:rPr lang="en-IN" b="1" dirty="0"/>
              <a:t>Machine Learning (ML)</a:t>
            </a:r>
            <a:r>
              <a:rPr lang="en-IN" dirty="0"/>
              <a:t> algorithms recognize phishing sites by identifying complex patterns in large datasets of website attributes and URLs.​</a:t>
            </a:r>
          </a:p>
          <a:p>
            <a:r>
              <a:rPr lang="en-IN" b="1" dirty="0"/>
              <a:t>Natural Language Processing (NLP) </a:t>
            </a:r>
            <a:r>
              <a:rPr lang="en-IN" dirty="0"/>
              <a:t>analyzes textual and semantic features from webpage content and URLs, uncovering subtle anomalies overlooked by standard methods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8055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5647D-9B85-4135-FDC8-4412998CA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b="1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F665-7E3B-0A75-0EE5-8FA0D35D26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13571" cy="4351338"/>
          </a:xfrm>
        </p:spPr>
        <p:txBody>
          <a:bodyPr>
            <a:normAutofit/>
          </a:bodyPr>
          <a:lstStyle/>
          <a:p>
            <a:r>
              <a:rPr lang="en-IN" b="1" dirty="0"/>
              <a:t>Data Sources</a:t>
            </a:r>
            <a:r>
              <a:rPr lang="en-IN" dirty="0"/>
              <a:t>: OpenPhish, PhishTank, Anti-Phishing Working Group datasets (phishing samples), Kaggle Phishing Website Dataset,</a:t>
            </a:r>
            <a:r>
              <a:rPr lang="en-US" b="1" dirty="0"/>
              <a:t> </a:t>
            </a:r>
            <a:r>
              <a:rPr lang="en-US" dirty="0"/>
              <a:t>OSINT (Twitter)</a:t>
            </a:r>
            <a:r>
              <a:rPr lang="en-IN" dirty="0"/>
              <a:t>.</a:t>
            </a:r>
            <a:endParaRPr lang="en-US" dirty="0"/>
          </a:p>
          <a:p>
            <a:r>
              <a:rPr lang="en-US" b="1" dirty="0"/>
              <a:t>Need for automation</a:t>
            </a:r>
            <a:br>
              <a:rPr lang="en-US" dirty="0"/>
            </a:br>
            <a:r>
              <a:rPr lang="en-US" dirty="0"/>
              <a:t>The volume and velocity of phishing URLs make manual monitoring infeasible. Automation (NLP + ML) is required to extract timely, actionable alerts.</a:t>
            </a:r>
          </a:p>
          <a:p>
            <a:r>
              <a:rPr lang="en-US" b="1" dirty="0"/>
              <a:t>Role of NLP in Cybersecurity</a:t>
            </a:r>
            <a:br>
              <a:rPr lang="en-US" dirty="0"/>
            </a:br>
            <a:r>
              <a:rPr lang="en-US" dirty="0"/>
              <a:t>Natural Language Processing (NLP) plays an important role in analyzing unstructured text from webpages, threat reports, and online content.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308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0E31C-E1FB-E7B6-FFEB-AF42D3DB3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6186" y="427041"/>
            <a:ext cx="10515600" cy="1325563"/>
          </a:xfrm>
        </p:spPr>
        <p:txBody>
          <a:bodyPr/>
          <a:lstStyle/>
          <a:p>
            <a:r>
              <a:rPr lang="en-IN" b="1" dirty="0"/>
              <a:t>Literature Review (Contd.)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870C5F-3FFE-E957-D8DA-30B75534832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6186" y="1921368"/>
            <a:ext cx="11179628" cy="4820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gaps in prior work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</a:rPr>
              <a:t>Many systems </a:t>
            </a:r>
            <a:r>
              <a:rPr lang="en-US" altLang="en-US" sz="2000" b="1" dirty="0">
                <a:latin typeface="Arial" panose="020B0604020202020204" pitchFamily="34" charset="0"/>
              </a:rPr>
              <a:t>detect</a:t>
            </a:r>
            <a:r>
              <a:rPr lang="en-US" altLang="en-US" sz="2000" dirty="0">
                <a:latin typeface="Arial" panose="020B0604020202020204" pitchFamily="34" charset="0"/>
              </a:rPr>
              <a:t> possible threat events but </a:t>
            </a:r>
            <a:r>
              <a:rPr lang="en-US" altLang="en-US" sz="2000" b="1" dirty="0">
                <a:latin typeface="Arial" panose="020B0604020202020204" pitchFamily="34" charset="0"/>
              </a:rPr>
              <a:t>don’t name</a:t>
            </a:r>
            <a:r>
              <a:rPr lang="en-US" altLang="en-US" sz="2000" dirty="0">
                <a:latin typeface="Arial" panose="020B0604020202020204" pitchFamily="34" charset="0"/>
              </a:rPr>
              <a:t> or profile the threat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/>
              <a:t>Limited systems map identified threats to </a:t>
            </a:r>
            <a:r>
              <a:rPr lang="en-US" sz="2400" b="1" dirty="0"/>
              <a:t>MITRE ATT&amp;CK tactics</a:t>
            </a:r>
            <a:r>
              <a:rPr lang="en-US" sz="2400" dirty="0"/>
              <a:t> for understanding attacker behavior.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u="sng" dirty="0"/>
              <a:t>Contribution of This Work</a:t>
            </a:r>
            <a:endParaRPr lang="en-US" sz="2400" u="sng" dirty="0"/>
          </a:p>
          <a:p>
            <a:r>
              <a:rPr lang="en-US" sz="2000" dirty="0"/>
              <a:t>Proposes an </a:t>
            </a:r>
            <a:r>
              <a:rPr lang="en-US" sz="2000" b="1" dirty="0"/>
              <a:t>automated NLP-ML pipeline</a:t>
            </a:r>
            <a:r>
              <a:rPr lang="en-US" sz="2000" dirty="0"/>
              <a:t> for detecting and profiling emerging cyber threats.</a:t>
            </a:r>
          </a:p>
          <a:p>
            <a:r>
              <a:rPr lang="en-US" sz="2000" dirty="0"/>
              <a:t>Employs </a:t>
            </a:r>
            <a:r>
              <a:rPr lang="en-US" sz="2000" b="1" dirty="0"/>
              <a:t>TF-IDF</a:t>
            </a:r>
            <a:r>
              <a:rPr lang="en-US" sz="2000" dirty="0"/>
              <a:t>, </a:t>
            </a:r>
            <a:r>
              <a:rPr lang="en-US" sz="2000" b="1" dirty="0"/>
              <a:t>NER</a:t>
            </a:r>
            <a:r>
              <a:rPr lang="en-US" sz="2000" dirty="0"/>
              <a:t>, and </a:t>
            </a:r>
            <a:r>
              <a:rPr lang="en-US" sz="2000" b="1" dirty="0"/>
              <a:t>normalization</a:t>
            </a:r>
            <a:r>
              <a:rPr lang="en-US" sz="2000" dirty="0"/>
              <a:t> techniques for accurate threat name identification.</a:t>
            </a:r>
          </a:p>
          <a:p>
            <a:r>
              <a:rPr lang="en-US" sz="2000" dirty="0"/>
              <a:t>Uses </a:t>
            </a:r>
            <a:r>
              <a:rPr lang="en-US" sz="2000" b="1" dirty="0"/>
              <a:t>One-Class Classification</a:t>
            </a:r>
            <a:r>
              <a:rPr lang="en-US" sz="2000" dirty="0"/>
              <a:t> to filter irrelevant data and </a:t>
            </a:r>
            <a:r>
              <a:rPr lang="en-US" sz="2000" b="1" dirty="0"/>
              <a:t>Multi-Class Classification</a:t>
            </a:r>
            <a:r>
              <a:rPr lang="en-US" sz="2000" dirty="0"/>
              <a:t> to map threats to MITRE ATT&amp;CK tactics.</a:t>
            </a:r>
          </a:p>
          <a:p>
            <a:r>
              <a:rPr lang="en-US" sz="2000" dirty="0"/>
              <a:t>Generates </a:t>
            </a:r>
            <a:r>
              <a:rPr lang="en-US" sz="2000" b="1" dirty="0"/>
              <a:t>timely alerts</a:t>
            </a:r>
            <a:r>
              <a:rPr lang="en-US" sz="2000" dirty="0"/>
              <a:t> enriched with risk assessment for cybersecurity engineers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2799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1533-4BE1-DF5E-D485-BD167C2BD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24CC5-00AF-876C-F7CA-146754384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0199"/>
            <a:ext cx="10515600" cy="45767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</a:t>
            </a:r>
          </a:p>
          <a:p>
            <a:r>
              <a:rPr lang="en-US" dirty="0"/>
              <a:t>Traditional phishing website detection methods, such as maintaining blacklists or manually verifying websites, are slow and ineffective against newly created phishing sites.</a:t>
            </a:r>
          </a:p>
          <a:p>
            <a:r>
              <a:rPr lang="en-US" dirty="0"/>
              <a:t>Need for an intelligent system that can automatically detect phishing websites by analyzing their content and structure by using </a:t>
            </a:r>
            <a:r>
              <a:rPr lang="en-US" b="1" dirty="0"/>
              <a:t>Natural Language Processing (NLP)</a:t>
            </a:r>
            <a:r>
              <a:rPr lang="en-US" dirty="0"/>
              <a:t> and </a:t>
            </a:r>
            <a:r>
              <a:rPr lang="en-US" b="1" dirty="0"/>
              <a:t>Machine Learning (ML)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707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66CBD-FC59-BE59-2070-B5315E2C8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E25AA-71BA-D0F6-3993-32491BD06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r>
              <a:rPr lang="en-US" dirty="0"/>
              <a:t>To improve the accuracy and speed of phishing detection compared to traditional methods.</a:t>
            </a:r>
            <a:endParaRPr lang="en-US" b="1" dirty="0"/>
          </a:p>
          <a:p>
            <a:endParaRPr lang="en-US" b="1" dirty="0"/>
          </a:p>
          <a:p>
            <a:r>
              <a:rPr lang="en-US" b="1" dirty="0"/>
              <a:t>Adaptation to Evolving Attacks : </a:t>
            </a:r>
            <a:r>
              <a:rPr lang="en-US" dirty="0"/>
              <a:t>To create an adaptive and dynamic defense system that can learn and recognize the ever-changing patterns of sophisticated phishing techniques</a:t>
            </a:r>
          </a:p>
          <a:p>
            <a:endParaRPr lang="en-US" dirty="0"/>
          </a:p>
          <a:p>
            <a:r>
              <a:rPr lang="en-US" dirty="0"/>
              <a:t>To help users stay safe online by warning them about potentially harmful websites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7097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2C796-D371-7EE6-056A-4956DC258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571" y="154894"/>
            <a:ext cx="10515600" cy="1325563"/>
          </a:xfrm>
        </p:spPr>
        <p:txBody>
          <a:bodyPr/>
          <a:lstStyle/>
          <a:p>
            <a:r>
              <a:rPr lang="en-IN" b="1" dirty="0"/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7EF98-E6AD-70D5-2BE9-3A859F15D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572" y="1502228"/>
            <a:ext cx="11375572" cy="520087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600" dirty="0"/>
              <a:t>The proposed framework automatically identifies emerging cyber threats by analyzing data from social media using NLP and ML.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600" b="1" u="sng" dirty="0"/>
              <a:t>Approach Overview:</a:t>
            </a:r>
            <a:endParaRPr lang="en-US" sz="2600" u="sng" dirty="0"/>
          </a:p>
          <a:p>
            <a:r>
              <a:rPr lang="en-US" sz="2600" b="1" dirty="0"/>
              <a:t>Continuous Monitoring</a:t>
            </a:r>
            <a:r>
              <a:rPr lang="en-US" sz="2600" dirty="0"/>
              <a:t> :Collect cybersecurity-related tweets from verified experts and companies.</a:t>
            </a:r>
          </a:p>
          <a:p>
            <a:r>
              <a:rPr lang="en-US" sz="2600" b="1" dirty="0"/>
              <a:t>NLP + ML Processing</a:t>
            </a:r>
            <a:r>
              <a:rPr lang="en-US" sz="2600" dirty="0"/>
              <a:t> :Use NLP to extract terms and ML to classify potential threats.</a:t>
            </a:r>
          </a:p>
          <a:p>
            <a:r>
              <a:rPr lang="en-US" sz="2600" b="1" dirty="0"/>
              <a:t>MITRE ATT&amp;CK Mapping</a:t>
            </a:r>
            <a:r>
              <a:rPr lang="en-US" sz="2600" dirty="0"/>
              <a:t> : Match identified threats to MITRE ATT&amp;CK tactics.</a:t>
            </a:r>
          </a:p>
          <a:p>
            <a:r>
              <a:rPr lang="en-US" sz="2600" b="1" dirty="0"/>
              <a:t>Alert Generation</a:t>
            </a:r>
            <a:r>
              <a:rPr lang="en-US" sz="2600" dirty="0"/>
              <a:t> :Create alerts for newly emerging or evolving threats, with risk ratings.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600" b="1" u="sng" dirty="0"/>
              <a:t>Outcome:</a:t>
            </a:r>
            <a:br>
              <a:rPr lang="en-US" sz="2600" dirty="0"/>
            </a:br>
            <a:r>
              <a:rPr lang="en-US" sz="2600" dirty="0"/>
              <a:t>Automated, real-time system that assists cybersecurity engineers in </a:t>
            </a:r>
            <a:r>
              <a:rPr lang="en-US" sz="2600" b="1" dirty="0"/>
              <a:t>early detection and response</a:t>
            </a:r>
            <a:r>
              <a:rPr lang="en-US" sz="2600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7724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6BDA22-DE86-3FF6-4C56-144E000E6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Proposed</a:t>
            </a:r>
            <a:b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Methodology</a:t>
            </a:r>
            <a:b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3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BAD2FF3-3C7B-FCBC-7A0B-4FBD66D598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88" b="29934"/>
          <a:stretch>
            <a:fillRect/>
          </a:stretch>
        </p:blipFill>
        <p:spPr>
          <a:xfrm>
            <a:off x="5114730" y="643466"/>
            <a:ext cx="6105871" cy="5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595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77F84-AEB2-73B5-873D-5FBC78C80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753"/>
            <a:ext cx="10515600" cy="1325563"/>
          </a:xfrm>
        </p:spPr>
        <p:txBody>
          <a:bodyPr/>
          <a:lstStyle/>
          <a:p>
            <a:r>
              <a:rPr lang="en-IN" b="1" dirty="0"/>
              <a:t>Proposed Methodology (Contd.)</a:t>
            </a:r>
            <a:endParaRPr lang="en-IN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AA401E-26EB-507C-772F-4C94AD073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371" y="1253330"/>
            <a:ext cx="10515600" cy="5386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1. Data Collection Layer</a:t>
            </a:r>
          </a:p>
          <a:p>
            <a:pPr marL="0" indent="0">
              <a:buNone/>
            </a:pPr>
            <a:r>
              <a:rPr lang="en-US" sz="2400" dirty="0"/>
              <a:t>The system collects data from:</a:t>
            </a:r>
          </a:p>
          <a:p>
            <a:pPr marL="0" indent="0">
              <a:buNone/>
            </a:pPr>
            <a:r>
              <a:rPr lang="en-US" sz="2400" dirty="0"/>
              <a:t>Public phishing datasets (Kaggle, UCI, </a:t>
            </a:r>
            <a:r>
              <a:rPr lang="en-US" sz="2400" dirty="0" err="1"/>
              <a:t>PhishTank</a:t>
            </a:r>
            <a:r>
              <a:rPr lang="en-US" sz="2400" dirty="0"/>
              <a:t>, </a:t>
            </a:r>
            <a:r>
              <a:rPr lang="en-US" sz="2400" dirty="0" err="1"/>
              <a:t>OpenPhish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r>
              <a:rPr lang="en-US" sz="2400" dirty="0"/>
              <a:t>Real-time OSINT sources (Twitter, security blogs)</a:t>
            </a:r>
          </a:p>
          <a:p>
            <a:pPr marL="0" indent="0">
              <a:buNone/>
            </a:pPr>
            <a:r>
              <a:rPr lang="en-US" sz="2400" dirty="0"/>
              <a:t>Webpage scraping mechanisms</a:t>
            </a:r>
          </a:p>
          <a:p>
            <a:pPr marL="0" indent="0">
              <a:buNone/>
            </a:pPr>
            <a:r>
              <a:rPr lang="en-US" sz="2400" dirty="0"/>
              <a:t>This ensures coverage of both historical phishing data and emerging threats.</a:t>
            </a:r>
          </a:p>
          <a:p>
            <a:pPr marL="0" indent="0">
              <a:buNone/>
            </a:pPr>
            <a:r>
              <a:rPr lang="en-IN" b="1" dirty="0"/>
              <a:t>2. Feature Extraction</a:t>
            </a:r>
          </a:p>
          <a:p>
            <a:r>
              <a:rPr lang="en-IN" sz="2400" dirty="0"/>
              <a:t>URL-Based Features</a:t>
            </a:r>
          </a:p>
          <a:p>
            <a:r>
              <a:rPr lang="en-IN" sz="2400" dirty="0"/>
              <a:t>Webpage Content Features</a:t>
            </a:r>
          </a:p>
          <a:p>
            <a:r>
              <a:rPr lang="en-IN" sz="2400" dirty="0"/>
              <a:t>NLP-Based Text Features</a:t>
            </a:r>
          </a:p>
        </p:txBody>
      </p:sp>
    </p:spTree>
    <p:extLst>
      <p:ext uri="{BB962C8B-B14F-4D97-AF65-F5344CB8AC3E}">
        <p14:creationId xmlns:p14="http://schemas.microsoft.com/office/powerpoint/2010/main" val="1338821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47D67-92E5-5796-4DC9-24C6DD4AD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IN" b="1" dirty="0"/>
              <a:t>Proposed Methodology (Contd.)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F08EE-E8AE-DE3E-ABD1-7180B440D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343818"/>
            <a:ext cx="11386457" cy="55141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3. Machine Learning Detection Layer</a:t>
            </a:r>
          </a:p>
          <a:p>
            <a:pPr marL="0" indent="0">
              <a:buNone/>
            </a:pPr>
            <a:r>
              <a:rPr lang="en-IN" sz="2400" dirty="0"/>
              <a:t>The core detection engine uses:</a:t>
            </a:r>
          </a:p>
          <a:p>
            <a:pPr marL="0" indent="0">
              <a:buNone/>
            </a:pPr>
            <a:r>
              <a:rPr lang="en-IN" sz="2400" b="1" dirty="0" err="1"/>
              <a:t>XGBoost</a:t>
            </a:r>
            <a:r>
              <a:rPr lang="en-IN" sz="2400" b="1" dirty="0"/>
              <a:t> (Primary Model)</a:t>
            </a:r>
          </a:p>
          <a:p>
            <a:r>
              <a:rPr lang="en-IN" sz="2400" dirty="0"/>
              <a:t>High accuracy</a:t>
            </a:r>
          </a:p>
          <a:p>
            <a:r>
              <a:rPr lang="en-IN" sz="2400" dirty="0"/>
              <a:t>Handles imbalanced datasets</a:t>
            </a:r>
          </a:p>
          <a:p>
            <a:r>
              <a:rPr lang="en-IN" sz="2400" dirty="0"/>
              <a:t>Strong performance on structured features</a:t>
            </a:r>
          </a:p>
          <a:p>
            <a:pPr marL="0" indent="0">
              <a:buNone/>
            </a:pPr>
            <a:r>
              <a:rPr lang="en-IN" sz="2400" b="1" dirty="0"/>
              <a:t>Random Forest (Secondary Model)</a:t>
            </a:r>
          </a:p>
          <a:p>
            <a:r>
              <a:rPr lang="en-IN" sz="2400" dirty="0"/>
              <a:t>Used for comparison and ensemble learning</a:t>
            </a:r>
          </a:p>
          <a:p>
            <a:pPr marL="0" indent="0">
              <a:buNone/>
            </a:pPr>
            <a:r>
              <a:rPr lang="en-IN" sz="2400" b="1" dirty="0"/>
              <a:t>BERT Model</a:t>
            </a:r>
          </a:p>
          <a:p>
            <a:r>
              <a:rPr lang="en-IN" sz="2400" dirty="0"/>
              <a:t>Used for </a:t>
            </a:r>
            <a:r>
              <a:rPr lang="en-IN" sz="2400" dirty="0" err="1"/>
              <a:t>analyzing</a:t>
            </a:r>
            <a:r>
              <a:rPr lang="en-IN" sz="2400" dirty="0"/>
              <a:t> webpage content and social media posts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18418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83E1-EE87-AC16-F5FD-CAED46407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IN" b="1" dirty="0"/>
              <a:t>Proposed Methodology (Contd.)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20B1F-26F3-C744-F7D6-C83DA8BC38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543" y="1404257"/>
            <a:ext cx="11353799" cy="5334000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4. </a:t>
            </a:r>
            <a:r>
              <a:rPr lang="en-US" b="1" dirty="0"/>
              <a:t>Threat Profiling (MITRE ATT&amp;CK Mapping)</a:t>
            </a:r>
          </a:p>
          <a:p>
            <a:pPr marL="0" indent="0">
              <a:buNone/>
            </a:pPr>
            <a:r>
              <a:rPr lang="en-US" sz="2400" dirty="0"/>
              <a:t>Once a website is classified as phishing, the system profiles it according to MITRE ATT&amp;CK tactics: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			</a:t>
            </a:r>
          </a:p>
          <a:p>
            <a:pPr marL="0" indent="0">
              <a:buNone/>
            </a:pPr>
            <a:r>
              <a:rPr lang="en-US" sz="2400" dirty="0"/>
              <a:t>		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provides contextual intelligence instead of just a binary decision.</a:t>
            </a:r>
          </a:p>
          <a:p>
            <a:pPr marL="0" indent="0">
              <a:buNone/>
            </a:pPr>
            <a:endParaRPr lang="en-IN" b="1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5AA2315-E4BE-0F78-B1DD-3CFE2AC7DA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4014090"/>
              </p:ext>
            </p:extLst>
          </p:nvPr>
        </p:nvGraphicFramePr>
        <p:xfrm>
          <a:off x="2032000" y="2756020"/>
          <a:ext cx="8128000" cy="29311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37890640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10222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800" b="1" dirty="0"/>
                        <a:t>Phishing Behavior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Mapped Tactic</a:t>
                      </a:r>
                    </a:p>
                    <a:p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5281857"/>
                  </a:ext>
                </a:extLst>
              </a:tr>
              <a:tr h="461071">
                <a:tc>
                  <a:txBody>
                    <a:bodyPr/>
                    <a:lstStyle/>
                    <a:p>
                      <a:r>
                        <a:rPr lang="en-US" sz="1800" b="1" dirty="0"/>
                        <a:t>Fake login page</a:t>
                      </a:r>
                      <a:endParaRPr lang="en-IN" sz="1800" b="1" dirty="0"/>
                    </a:p>
                    <a:p>
                      <a:endParaRPr lang="en-US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Credential Access</a:t>
                      </a:r>
                    </a:p>
                    <a:p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6635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/>
                        <a:t>Email phishing campaign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Initial Access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647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/>
                        <a:t>Data harvesting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Exfiltration</a:t>
                      </a:r>
                    </a:p>
                    <a:p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2660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dirty="0"/>
                        <a:t>Redirection attack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Defense Evasion</a:t>
                      </a:r>
                    </a:p>
                    <a:p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298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0061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417F0E-0D90-A39E-DE83-6E97764AE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60881"/>
            <a:ext cx="9795638" cy="11143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dirty="0"/>
              <a:t>Result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1274E5-D849-21F9-E410-73225A33B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34" y="3159217"/>
            <a:ext cx="5828261" cy="2943272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E866C9-6D1C-11E8-DCD7-B27748A55E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82505" y="3159217"/>
            <a:ext cx="5828261" cy="29432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50C714-99DE-C2D0-BF12-D5E33C71CE7E}"/>
              </a:ext>
            </a:extLst>
          </p:cNvPr>
          <p:cNvSpPr txBox="1"/>
          <p:nvPr/>
        </p:nvSpPr>
        <p:spPr>
          <a:xfrm>
            <a:off x="2350542" y="2232573"/>
            <a:ext cx="37439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 err="1"/>
              <a:t>XGBoost</a:t>
            </a:r>
            <a:endParaRPr lang="en-IN" sz="3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05173D-E378-D6ED-DE52-8825A4CB3A1D}"/>
              </a:ext>
            </a:extLst>
          </p:cNvPr>
          <p:cNvSpPr txBox="1"/>
          <p:nvPr/>
        </p:nvSpPr>
        <p:spPr>
          <a:xfrm>
            <a:off x="7842290" y="2232573"/>
            <a:ext cx="37439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/>
              <a:t>Random Forest</a:t>
            </a:r>
          </a:p>
        </p:txBody>
      </p:sp>
    </p:spTree>
    <p:extLst>
      <p:ext uri="{BB962C8B-B14F-4D97-AF65-F5344CB8AC3E}">
        <p14:creationId xmlns:p14="http://schemas.microsoft.com/office/powerpoint/2010/main" val="2854865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B3467-B9A5-E702-B36D-8EDA7CBBE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IN" sz="4800" b="1" dirty="0"/>
              <a:t>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7D293-2597-1547-188D-0384AE5E3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343" y="1208314"/>
            <a:ext cx="11375571" cy="52686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The project successfully demonstrates that machine learning techniques, particularly </a:t>
            </a:r>
            <a:r>
              <a:rPr lang="en-US" dirty="0" err="1"/>
              <a:t>XGBoost</a:t>
            </a:r>
            <a:r>
              <a:rPr lang="en-US" dirty="0"/>
              <a:t>, can effectively detect phishing websites with high accuracy (approximately 98–99%). The system provides a scalable and practical solution for early detection of malicious websites and contributes toward improving cybersecurity defenses</a:t>
            </a:r>
            <a:r>
              <a:rPr lang="en-US" b="1" dirty="0"/>
              <a:t>.</a:t>
            </a:r>
            <a:endParaRPr lang="en-IN" b="1" dirty="0"/>
          </a:p>
          <a:p>
            <a:pPr marL="0" indent="0">
              <a:buNone/>
            </a:pPr>
            <a:r>
              <a:rPr lang="en-IN" b="1" dirty="0"/>
              <a:t>1.Dataset Preparation &amp; Preprocessing</a:t>
            </a:r>
          </a:p>
          <a:p>
            <a:r>
              <a:rPr lang="en-IN" sz="1900" dirty="0"/>
              <a:t>Collected and </a:t>
            </a:r>
            <a:r>
              <a:rPr lang="en-IN" sz="1900" dirty="0" err="1"/>
              <a:t>analyzed</a:t>
            </a:r>
            <a:r>
              <a:rPr lang="en-IN" sz="1900" dirty="0"/>
              <a:t> a phishing website dataset containing 80+ engineered features.</a:t>
            </a:r>
          </a:p>
          <a:p>
            <a:r>
              <a:rPr lang="en-IN" sz="1900" dirty="0"/>
              <a:t>Cleaned and </a:t>
            </a:r>
            <a:r>
              <a:rPr lang="en-IN" sz="1900" dirty="0" err="1"/>
              <a:t>preprocessed</a:t>
            </a:r>
            <a:r>
              <a:rPr lang="en-IN" sz="1900" dirty="0"/>
              <a:t> data by removing irrelevant fields (e.g., URL text column).</a:t>
            </a:r>
          </a:p>
          <a:p>
            <a:r>
              <a:rPr lang="en-IN" sz="1900" dirty="0"/>
              <a:t>Encoded categorical labels (“legitimate”, “phishing”) into numerical format for model training.</a:t>
            </a:r>
          </a:p>
          <a:p>
            <a:pPr marL="0" indent="0">
              <a:buNone/>
            </a:pPr>
            <a:r>
              <a:rPr lang="en-IN" b="1" dirty="0"/>
              <a:t>2.Model Development</a:t>
            </a:r>
          </a:p>
          <a:p>
            <a:r>
              <a:rPr lang="en-IN" sz="1800" dirty="0"/>
              <a:t>Implemented and trained multiple machine learning models:</a:t>
            </a:r>
          </a:p>
          <a:p>
            <a:r>
              <a:rPr lang="en-IN" sz="1800" dirty="0"/>
              <a:t>Random Forest Classifier</a:t>
            </a:r>
          </a:p>
          <a:p>
            <a:r>
              <a:rPr lang="en-IN" sz="1800" dirty="0" err="1"/>
              <a:t>XGBoost</a:t>
            </a:r>
            <a:r>
              <a:rPr lang="en-IN" sz="1800" dirty="0"/>
              <a:t> Classifier</a:t>
            </a:r>
          </a:p>
          <a:p>
            <a:r>
              <a:rPr lang="en-IN" sz="1800" dirty="0"/>
              <a:t>Performed train-test splitting and model evaluation using standard metrics.</a:t>
            </a:r>
          </a:p>
        </p:txBody>
      </p:sp>
    </p:spTree>
    <p:extLst>
      <p:ext uri="{BB962C8B-B14F-4D97-AF65-F5344CB8AC3E}">
        <p14:creationId xmlns:p14="http://schemas.microsoft.com/office/powerpoint/2010/main" val="193755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D20B7-86EA-B8B3-A49F-D1FD17CC6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01839"/>
            <a:ext cx="10515600" cy="1325563"/>
          </a:xfrm>
        </p:spPr>
        <p:txBody>
          <a:bodyPr/>
          <a:lstStyle/>
          <a:p>
            <a:r>
              <a:rPr lang="en-IN" b="1" dirty="0"/>
              <a:t>Outcome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10AD1D-847A-D3E6-D823-FD03F2852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7401"/>
            <a:ext cx="10515600" cy="50475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900" b="1" dirty="0"/>
              <a:t>3.Performance Evaluation</a:t>
            </a:r>
          </a:p>
          <a:p>
            <a:r>
              <a:rPr lang="en-IN" sz="1800" dirty="0"/>
              <a:t>Achieved high classification accuracy:</a:t>
            </a:r>
          </a:p>
          <a:p>
            <a:r>
              <a:rPr lang="en-IN" sz="1800" dirty="0"/>
              <a:t>Random Forest: 97–98%</a:t>
            </a:r>
          </a:p>
          <a:p>
            <a:r>
              <a:rPr lang="en-IN" sz="1800" dirty="0" err="1"/>
              <a:t>XGBoost</a:t>
            </a:r>
            <a:r>
              <a:rPr lang="en-IN" sz="1800" dirty="0"/>
              <a:t>: 97–98%</a:t>
            </a:r>
          </a:p>
          <a:p>
            <a:pPr marL="0" indent="0">
              <a:buNone/>
            </a:pPr>
            <a:r>
              <a:rPr lang="en-IN" b="1" dirty="0"/>
              <a:t>Evaluated models using:</a:t>
            </a:r>
          </a:p>
          <a:p>
            <a:r>
              <a:rPr lang="en-IN" sz="1800" dirty="0"/>
              <a:t>Accuracy</a:t>
            </a:r>
          </a:p>
          <a:p>
            <a:r>
              <a:rPr lang="en-IN" sz="1800" dirty="0"/>
              <a:t>Precision</a:t>
            </a:r>
          </a:p>
          <a:p>
            <a:r>
              <a:rPr lang="en-IN" sz="1800" dirty="0"/>
              <a:t>Recall</a:t>
            </a:r>
          </a:p>
          <a:p>
            <a:r>
              <a:rPr lang="en-IN" sz="1800" dirty="0"/>
              <a:t>F1-Score</a:t>
            </a:r>
          </a:p>
          <a:p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18955459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C5325-4A51-AE05-7BE6-440D74D0B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88C38-4C0A-7C78-2FF6-39EB62252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Marinho, R., &amp; Holanda, R. (2023). </a:t>
            </a:r>
            <a:r>
              <a:rPr lang="en-US" i="1" dirty="0"/>
              <a:t>Automated emerging cyber threat identification and profiling based on natural language processing.</a:t>
            </a:r>
            <a:r>
              <a:rPr lang="en-US" dirty="0"/>
              <a:t> IEEE Access</a:t>
            </a:r>
          </a:p>
          <a:p>
            <a:r>
              <a:rPr lang="en-US" dirty="0"/>
              <a:t>Silvestri, S. et al. (2023). </a:t>
            </a:r>
            <a:r>
              <a:rPr lang="en-US" i="1" dirty="0"/>
              <a:t>A Machine Learning Approach for the NLP-Based Analysis of Cyber Threats and Vulnerabilities of the Healthcare Ecosystem.</a:t>
            </a:r>
            <a:r>
              <a:rPr lang="en-US" dirty="0"/>
              <a:t> Sensors, 23(3), 1225.</a:t>
            </a:r>
          </a:p>
          <a:p>
            <a:pPr lvl="0"/>
            <a:r>
              <a:rPr lang="en-IN" dirty="0"/>
              <a:t>Sahingoz, O. K., Buber, E., Demir, O., &amp; Diri, B. (2019). </a:t>
            </a:r>
            <a:r>
              <a:rPr lang="en-IN" i="1" dirty="0"/>
              <a:t>Machine learning based phishing detection from URLs</a:t>
            </a:r>
            <a:r>
              <a:rPr lang="en-IN" dirty="0"/>
              <a:t>. Expert Systems with Applications, 117, 345–357.</a:t>
            </a:r>
          </a:p>
          <a:p>
            <a:pPr lvl="0"/>
            <a:r>
              <a:rPr lang="en-IN" dirty="0"/>
              <a:t>OpenPhish. (2024). </a:t>
            </a:r>
            <a:r>
              <a:rPr lang="en-IN" i="1" dirty="0"/>
              <a:t>OpenPhish Phishing Intelligence Feed</a:t>
            </a:r>
            <a:r>
              <a:rPr lang="en-IN" dirty="0"/>
              <a:t>.</a:t>
            </a:r>
          </a:p>
          <a:p>
            <a:r>
              <a:rPr lang="en-IN" dirty="0"/>
              <a:t>PhishTank. (2024). </a:t>
            </a:r>
            <a:r>
              <a:rPr lang="en-IN" i="1" dirty="0"/>
              <a:t>PhishTank—Collaborative clearing house for phishing data</a:t>
            </a:r>
            <a:endParaRPr lang="en-US" dirty="0"/>
          </a:p>
          <a:p>
            <a:pPr marL="0" indent="0">
              <a:buNone/>
            </a:pPr>
            <a:endParaRPr lang="en-IN" dirty="0">
              <a:solidFill>
                <a:srgbClr val="0D0D0D"/>
              </a:solidFill>
              <a:latin typeface="ui-sans-serif"/>
            </a:endParaRP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9175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208BD6-2A31-5677-2B53-FD39A887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8467"/>
            <a:ext cx="5257800" cy="1325563"/>
          </a:xfrm>
        </p:spPr>
        <p:txBody>
          <a:bodyPr/>
          <a:lstStyle/>
          <a:p>
            <a:r>
              <a:rPr lang="en-IN" b="1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74710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2962</TotalTime>
  <Words>1052</Words>
  <Application>Microsoft Office PowerPoint</Application>
  <PresentationFormat>Widescreen</PresentationFormat>
  <Paragraphs>133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ui-sans-serif</vt:lpstr>
      <vt:lpstr>Wingdings</vt:lpstr>
      <vt:lpstr>Office Theme</vt:lpstr>
      <vt:lpstr>PHISHING WEBSITE DETECTION USING NLP AND ML</vt:lpstr>
      <vt:lpstr>Outline</vt:lpstr>
      <vt:lpstr>Introduction</vt:lpstr>
      <vt:lpstr>Introduction (Contd.)</vt:lpstr>
      <vt:lpstr>Literature Review</vt:lpstr>
      <vt:lpstr>Literature Review (Contd.)</vt:lpstr>
      <vt:lpstr>Problem Statement</vt:lpstr>
      <vt:lpstr>Objectives</vt:lpstr>
      <vt:lpstr>Proposed Methodology</vt:lpstr>
      <vt:lpstr>Proposed Methodology </vt:lpstr>
      <vt:lpstr>Proposed Methodology (Contd.)</vt:lpstr>
      <vt:lpstr>Proposed Methodology (Contd.)</vt:lpstr>
      <vt:lpstr>Proposed Methodology (Contd.)</vt:lpstr>
      <vt:lpstr>Result</vt:lpstr>
      <vt:lpstr>Outcome</vt:lpstr>
      <vt:lpstr>Outcome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 Jadhav [MU - Jaipur]</dc:creator>
  <cp:lastModifiedBy>Vardaan Thakur [CSE - 2024]</cp:lastModifiedBy>
  <cp:revision>30</cp:revision>
  <dcterms:created xsi:type="dcterms:W3CDTF">2025-09-29T05:03:41Z</dcterms:created>
  <dcterms:modified xsi:type="dcterms:W3CDTF">2026-02-18T18:25:14Z</dcterms:modified>
</cp:coreProperties>
</file>